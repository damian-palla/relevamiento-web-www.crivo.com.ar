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xiLqoEHz54xREoe9+R9VYFrGD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75488" y="868680"/>
            <a:ext cx="5760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RELEVAMIENTO QA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75488" y="158191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Crivo S.R.L.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75488" y="2157984"/>
            <a:ext cx="5760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7FB3D3"/>
                </a:solidFill>
                <a:latin typeface="Calibri"/>
                <a:ea typeface="Calibri"/>
                <a:cs typeface="Calibri"/>
                <a:sym typeface="Calibri"/>
              </a:rPr>
              <a:t>Guía de Presentación al Cliente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75488" y="2624328"/>
            <a:ext cx="3474720" cy="36576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75488" y="2816352"/>
            <a:ext cx="1965960" cy="65836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83464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Elaborado por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0723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Damián Palla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560320" y="2816352"/>
            <a:ext cx="1965960" cy="65836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633472" y="283464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Sitio relevado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33472" y="30723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crivo.com.ar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645152" y="2816352"/>
            <a:ext cx="1965960" cy="65836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718304" y="283464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Duración estim.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18304" y="30723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30–40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729984" y="2816352"/>
            <a:ext cx="1965960" cy="658368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803136" y="283464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03136" y="30723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537960" y="0"/>
            <a:ext cx="2606040" cy="51435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537960" y="640080"/>
            <a:ext cx="2606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537960" y="149047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Casos de prueba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812280" y="1874520"/>
            <a:ext cx="2011680" cy="27432"/>
          </a:xfrm>
          <a:prstGeom prst="rect">
            <a:avLst/>
          </a:prstGeom>
          <a:solidFill>
            <a:srgbClr val="2E86C1">
              <a:alpha val="50196"/>
            </a:srgbClr>
          </a:solidFill>
          <a:ln cap="flat" cmpd="sng" w="12700">
            <a:solidFill>
              <a:srgbClr val="2E86C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537960" y="2103120"/>
            <a:ext cx="2606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37960" y="295351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Bugs encontrados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812280" y="3337560"/>
            <a:ext cx="2011680" cy="27432"/>
          </a:xfrm>
          <a:prstGeom prst="rect">
            <a:avLst/>
          </a:prstGeom>
          <a:solidFill>
            <a:srgbClr val="2E86C1">
              <a:alpha val="50196"/>
            </a:srgbClr>
          </a:solidFill>
          <a:ln cap="flat" cmpd="sng" w="12700">
            <a:solidFill>
              <a:srgbClr val="2E86C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537960" y="3566160"/>
            <a:ext cx="2606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537960" y="44165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Propuestas de mejora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EJECUTIVO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594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Una mirada rápida a los resultados del relevamiento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1051560"/>
            <a:ext cx="1920240" cy="137160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105156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" y="19019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487168" y="1051560"/>
            <a:ext cx="1920240" cy="13716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487168" y="105156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532888" y="19019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608576" y="1051560"/>
            <a:ext cx="1920240" cy="1371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08576" y="105156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654296" y="19019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Fallidos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729984" y="1051560"/>
            <a:ext cx="1920240" cy="13716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729984" y="105156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775704" y="1901952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65760" y="2633472"/>
            <a:ext cx="8412480" cy="338328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68680" y="2633472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423160" y="2633472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Cantidad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74720" y="2633472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65760" y="2990088"/>
            <a:ext cx="8412480" cy="448056"/>
          </a:xfrm>
          <a:prstGeom prst="rect">
            <a:avLst/>
          </a:prstGeom>
          <a:solidFill>
            <a:srgbClr val="FADBD8"/>
          </a:solidFill>
          <a:ln cap="flat" cmpd="sng" w="12700">
            <a:solidFill>
              <a:srgbClr val="FAD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65760" y="2990088"/>
            <a:ext cx="64008" cy="44805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02920" y="2990088"/>
            <a:ext cx="1417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148840" y="2990088"/>
            <a:ext cx="8229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108960" y="2990088"/>
            <a:ext cx="55778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Errores críticos que afectan seguridad o funcionalidad principal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65760" y="3465576"/>
            <a:ext cx="8412480" cy="44805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5760" y="3465576"/>
            <a:ext cx="64008" cy="44805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02920" y="3465576"/>
            <a:ext cx="1417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148840" y="3465576"/>
            <a:ext cx="8229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108960" y="3465576"/>
            <a:ext cx="55778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Problemas de UX, formularios y SEO que afectan la experiencia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65760" y="3941064"/>
            <a:ext cx="8412480" cy="448056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365760" y="3941064"/>
            <a:ext cx="64008" cy="448056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02920" y="3941064"/>
            <a:ext cx="141732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BAJA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2148840" y="3941064"/>
            <a:ext cx="82296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108960" y="3941064"/>
            <a:ext cx="557784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Detalles menores de contenido e inconsistencias visuales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1 — INTRODUCCIÓN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1024128"/>
            <a:ext cx="8046720" cy="62179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1024128"/>
            <a:ext cx="502920" cy="62179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5760" y="1024128"/>
            <a:ext cx="502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60120" y="1024128"/>
            <a:ext cx="7360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Se analizó el sitio crivo.com.ar en 5 áreas: funcionamiento, diseño/UX, mobile, SEO e integraciones.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1773936"/>
            <a:ext cx="8046720" cy="62179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5760" y="1773936"/>
            <a:ext cx="502920" cy="62179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65760" y="1773936"/>
            <a:ext cx="502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60120" y="1773936"/>
            <a:ext cx="7360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Las pruebas fueron manuales, realizadas en el entorno de producción real.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2523744"/>
            <a:ext cx="8046720" cy="62179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2523744"/>
            <a:ext cx="502920" cy="62179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5760" y="2523744"/>
            <a:ext cx="502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60120" y="2523744"/>
            <a:ext cx="7360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Testeado en desktop (Chrome) y mobile (iPhone 14 Pro Max y Samsung S22 Ultra).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3273552"/>
            <a:ext cx="8046720" cy="62179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65760" y="3273552"/>
            <a:ext cx="502920" cy="62179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65760" y="3273552"/>
            <a:ext cx="502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60120" y="3273552"/>
            <a:ext cx="7360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realizado de forma independiente, sin participación previa en el desarrollo.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65760" y="4059936"/>
            <a:ext cx="8412480" cy="62179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65760" y="4059936"/>
            <a:ext cx="64008" cy="62179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4059936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"Se realizó un análisis completo del sitio crivo.com.ar revisando el funcionamiento, la experiencia del usuario, la vista mobile y el posicionamiento en Google. Todo fue testeado de forma manual en el sitio real."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2 — LO QUE FUNCIONA BIEN 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0047" y="1264978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0048" y="1264978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8" y="143871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813824" y="1264978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Toda la navegación principal funciona sin errores en desktop y mobile.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7" y="2069650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8" y="2069650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8" y="224338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813824" y="2069650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El formulario de contacto envía solicitudes correctamente con datos válidos.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7" y="2874322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20048" y="2874322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8" y="304805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813824" y="2874322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El flow completo de newsletter funciona de punta a punta.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20047" y="3678994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20048" y="3678994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8" y="385273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813824" y="3678994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El botón de WhatsApp es visible, sticky y funcional en ambas plataformas.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663448" y="1264978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663448" y="1264978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8" y="143871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5157224" y="1264978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Las integraciones con Instagram, LinkedIn y email funcionan correctamente.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663448" y="2069650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63448" y="2069650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8" y="224338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5157224" y="2069650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Las páginas de detalle de producto cargan toda la información esperada.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663448" y="2874322"/>
            <a:ext cx="4160400" cy="6585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63448" y="2874322"/>
            <a:ext cx="54900" cy="658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8" y="304805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5157224" y="2874322"/>
            <a:ext cx="3593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El sitio se adapta bien a diferentes resoluciones de pantalla.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3 — BUGS DE ALTA SEVERIDAD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0040" y="594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Los bugs con mayor prioridad para ser resueltos  ·  Mostrar evidencia visual (capturas/videos del Drive)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1024128"/>
            <a:ext cx="8412480" cy="109728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FDEDE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1024128"/>
            <a:ext cx="54864" cy="10972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02920" y="1115568"/>
            <a:ext cx="658368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" y="111556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234440" y="111556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BUG-003 / BUG-009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02920" y="138988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Exposición de información interna del servidor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02920" y="16642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Al hacer clic en 'Productos' desde el footer, o al acceder a /enviar_news, el sitio muestra un error técnico con rutas internas, nombre de usuario de hosting y líneas de código. Cualquier visitante puede ver esta información. Es el bug más crítico del relevamiento.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65760" y="2267712"/>
            <a:ext cx="8412480" cy="109728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FDEDE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65760" y="2267712"/>
            <a:ext cx="54864" cy="10972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" y="2359152"/>
            <a:ext cx="658368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02920" y="235915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234440" y="235915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BUG-001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02920" y="263347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Parpadeo del menú de productos al navegar entre tabs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" y="2907792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Al hacer hover en 'Productos' y mover el cursor a otras tabs, el menú desplegable parpadea indefinidamente afectando directamente la experiencia del usuario.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65760" y="3511296"/>
            <a:ext cx="8412480" cy="109728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FDEDE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65760" y="3511296"/>
            <a:ext cx="54864" cy="10972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02920" y="3602736"/>
            <a:ext cx="658368" cy="23774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02920" y="360273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234440" y="360273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BUG-002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02920" y="3877056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Newsletter no visible con bloqueador de anuncios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02920" y="4151376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Si el usuario tiene AdBlock u otra extensión similar instalada (muy común hoy), la sección de Newsletter en el footer no se muestra y el usuario no puede suscribirse.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D6608"/>
          </a:solidFill>
          <a:ln cap="flat" cmpd="sng" w="12700">
            <a:solidFill>
              <a:srgbClr val="7D66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4 — BUGS MEDIA Y BAJA SEVERIDAD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20040" y="594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Bugs que afectan la experiencia sin bloquear al usuario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65760" y="1005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Severidad Media — 6 bugs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65760" y="1316736"/>
            <a:ext cx="4160520" cy="49377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65760" y="1316736"/>
            <a:ext cx="54864" cy="4937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93776" y="13350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BUG-007/008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93776" y="15179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Formulario permite cotización con campos vacíos ('Tipo de producto' y 'Comentarios').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65760" y="1883664"/>
            <a:ext cx="4160520" cy="49377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65760" y="1883664"/>
            <a:ext cx="54864" cy="4937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93776" y="1901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BUG-004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93776" y="20848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Mobile: Texto del footer desbordado, genera scroll horizontal no deseado.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65760" y="2450592"/>
            <a:ext cx="4160520" cy="49377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2450592"/>
            <a:ext cx="54864" cy="4937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93776" y="2468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BUG-005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93776" y="26517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Título de página repetido en todos los endpoints — afecta SEO e identificación de pestañas.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709160" y="1316736"/>
            <a:ext cx="4160520" cy="49377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709160" y="1316736"/>
            <a:ext cx="54864" cy="4937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37176" y="13350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BUG-006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837176" y="15179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'Usos recomendados' en formato columna en Lonas y Placas Rígidas.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709160" y="1883664"/>
            <a:ext cx="4160520" cy="493776"/>
          </a:xfrm>
          <a:prstGeom prst="rect">
            <a:avLst/>
          </a:prstGeom>
          <a:solidFill>
            <a:srgbClr val="FDEBD0"/>
          </a:solidFill>
          <a:ln cap="flat" cmpd="sng" w="12700">
            <a:solidFill>
              <a:srgbClr val="FDEB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709160" y="1883664"/>
            <a:ext cx="54864" cy="493776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37176" y="1901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837176" y="20848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Meta description genérica — Google la ignora y usa el texto del producto.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3108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Severidad Baja — 4 bugs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65760" y="3429000"/>
            <a:ext cx="4160520" cy="475488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65760" y="3429000"/>
            <a:ext cx="54864" cy="47548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93776" y="344728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BUG-010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93776" y="3630168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Error de tilde: 'gráficos' aparece como 'g■aficos' (acento en la letra “r”) en el title de todas las páginas.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709160" y="3429000"/>
            <a:ext cx="4160520" cy="475488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709160" y="3429000"/>
            <a:ext cx="54864" cy="47548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837176" y="344728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BUG-011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837176" y="36301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Inconsistencia de onzas en Lona Backlight: nombre dice 15 oz, características muestran 13 oz.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65760" y="3977640"/>
            <a:ext cx="4160520" cy="475488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65760" y="3977640"/>
            <a:ext cx="54864" cy="47548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93776" y="39959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BUG-012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93776" y="41788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Nombre diferente entre card y detalle de producto: 'Bicapa' (Placas rígidas).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709160" y="3977640"/>
            <a:ext cx="4160520" cy="475488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709160" y="3977640"/>
            <a:ext cx="54864" cy="47548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837176" y="399592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BUG-013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837176" y="41788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Nombre diferente entre card y detalle de producto: 'Prensa' (Portabanners).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20100" y="128049"/>
            <a:ext cx="713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PROPUESTAS DE MEJORA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20090" y="594398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Sección: Contacto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543800" y="182880"/>
            <a:ext cx="1371600" cy="384048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543800" y="1828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■  5–6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543800" y="576072"/>
            <a:ext cx="1371600" cy="274320"/>
          </a:xfrm>
          <a:prstGeom prst="roundRect">
            <a:avLst>
              <a:gd fmla="val 20000" name="adj"/>
            </a:avLst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543800" y="5760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✉  Contacto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0" y="731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320040" y="1024128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20040" y="1024128"/>
            <a:ext cx="54864" cy="804672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57200" y="1225296"/>
            <a:ext cx="384048" cy="384048"/>
          </a:xfrm>
          <a:prstGeom prst="ellipse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57200" y="12252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960120" y="106070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Envío automático de WhatsApp al recibir cotización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60120" y="13258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627632" y="1325880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asesor llama al cliente luego de procesar la solicitud del formulario.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120640" y="13258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053328" y="132588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Al enviar el formulario, el sistema manda un WhatsApp personalizado (nombre + link al producto) al número cargado.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20040" y="1920240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20040" y="1920240"/>
            <a:ext cx="54864" cy="804672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960120" y="195681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Campo 'Tipo de producto' obligatorio en el formulario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960120" y="2221992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627632" y="2221992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'Tipo de producto' y 'Comentarios' son opcionales, lo que limita la calidad de los leads.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120640" y="22219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053328" y="2221992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Hacer obligatorio 'Tipo de producto' para personalizar la atención y obtener métricas de productos más consultados.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0040" y="2816352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320040" y="2816352"/>
            <a:ext cx="54864" cy="804672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57200" y="3017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960120" y="28529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Autocompletar 'Tipo de producto' desde la ficha del producto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960120" y="311810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627632" y="3118104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Desde la página de detalle, el usuario debe seleccionar manualmente el tipo de producto en el formulario.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120640" y="31181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053328" y="3118104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campo 'Tipo de producto' se autocompleta automáticamente según el producto desde el que se abrió el modal.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20040" y="3712464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20040" y="3712464"/>
            <a:ext cx="54864" cy="804672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57200" y="3913632"/>
            <a:ext cx="384048" cy="384048"/>
          </a:xfrm>
          <a:prstGeom prst="ellipse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" y="3913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60120" y="37490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Link 'Chateá con nosotros' con ícono de WhatsApp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60120" y="401421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627632" y="4014216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link 'chateá con nosotros' tiene el mismo estilo que el resto del texto del modal.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120640" y="401421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053328" y="401421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link es de color verde y se muestra junto al ícono de WhatsApp para hacerlo visualmente más reconocible.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20100" y="155499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PROPUESTAS DE MEJORA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20040" y="580648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Secciones: Newsletter y Home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20040" y="1192315"/>
            <a:ext cx="8503800" cy="2742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84048" y="119231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✉  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20040" y="1503211"/>
            <a:ext cx="8503800" cy="8046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0040" y="1503211"/>
            <a:ext cx="54900" cy="8046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" y="1704379"/>
            <a:ext cx="384000" cy="384000"/>
          </a:xfrm>
          <a:prstGeom prst="ellipse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57200" y="1704379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960120" y="1539787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Pop-up visible para confirmar suscripción al newsletter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960120" y="1804963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627632" y="1804963"/>
            <a:ext cx="340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mensaje de confirmación se muestra inline dentro del footer, poco llamativo y fácil de ignorar.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120640" y="1804963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053328" y="1804963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Mostrar un pop-up centrado y visible que indique los pasos para completar la suscripción por email.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20040" y="2518195"/>
            <a:ext cx="8503800" cy="274200"/>
          </a:xfrm>
          <a:prstGeom prst="rect">
            <a:avLst/>
          </a:prstGeom>
          <a:solidFill>
            <a:srgbClr val="148F77"/>
          </a:solidFill>
          <a:ln cap="flat" cmpd="sng" w="12700">
            <a:solidFill>
              <a:srgbClr val="148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84048" y="2518195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⌂  Home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20040" y="2819947"/>
            <a:ext cx="8503800" cy="8046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20040" y="2819947"/>
            <a:ext cx="54900" cy="804600"/>
          </a:xfrm>
          <a:prstGeom prst="rect">
            <a:avLst/>
          </a:prstGeom>
          <a:solidFill>
            <a:srgbClr val="148F77"/>
          </a:solidFill>
          <a:ln cap="flat" cmpd="sng" w="12700">
            <a:solidFill>
              <a:srgbClr val="148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57200" y="3021115"/>
            <a:ext cx="384000" cy="384000"/>
          </a:xfrm>
          <a:prstGeom prst="ellipse">
            <a:avLst/>
          </a:prstGeom>
          <a:solidFill>
            <a:srgbClr val="148F77"/>
          </a:solidFill>
          <a:ln cap="flat" cmpd="sng" w="12700">
            <a:solidFill>
              <a:srgbClr val="148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" y="3021115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960120" y="2856523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Imágenes y botones de productos alineados en el Home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960120" y="3121699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627632" y="3121699"/>
            <a:ext cx="340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Las imágenes y botones 'Ver productos' están desalineados entre sí en la grilla del Home.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120640" y="3121699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053328" y="3121699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Alinear todas las imágenes a la misma altura y los botones al mismo nivel inferior en cada card.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20040" y="3798355"/>
            <a:ext cx="8503800" cy="366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20050" y="191999"/>
            <a:ext cx="713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PROPUESTAS DE MEJORA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74890" y="626373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Sección: Productos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7543800" y="576072"/>
            <a:ext cx="1371600" cy="274320"/>
          </a:xfrm>
          <a:prstGeom prst="roundRect">
            <a:avLst>
              <a:gd fmla="val 20000" name="adj"/>
            </a:avLst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20050" y="1024125"/>
            <a:ext cx="8353800" cy="790500"/>
          </a:xfrm>
          <a:prstGeom prst="rect">
            <a:avLst/>
          </a:prstGeom>
          <a:solidFill>
            <a:srgbClr val="F2F3F4"/>
          </a:solidFill>
          <a:ln cap="flat" cmpd="sng" w="12475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2379" rotWithShape="0" algn="bl" dir="8100000" dist="24951">
              <a:srgbClr val="000000">
                <a:alpha val="10196"/>
              </a:srgbClr>
            </a:outerShdw>
          </a:effectLst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320050" y="1024125"/>
            <a:ext cx="54000" cy="790500"/>
          </a:xfrm>
          <a:prstGeom prst="rect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54788" y="1221740"/>
            <a:ext cx="377400" cy="377400"/>
          </a:xfrm>
          <a:prstGeom prst="ellipse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54788" y="1221740"/>
            <a:ext cx="37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00" lIns="89800" spcFirstLastPara="1" rIns="89800" wrap="square" tIns="4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1"/>
              <a:buFont typeface="Calibri"/>
              <a:buNone/>
            </a:pPr>
            <a:r>
              <a:rPr b="1" i="0" lang="en-US" sz="10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948826" y="1060055"/>
            <a:ext cx="763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31"/>
              <a:buFont typeface="Calibri"/>
              <a:buNone/>
            </a:pPr>
            <a:r>
              <a:rPr b="1" i="0" lang="en-US" sz="1031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Cards de productos con imagen de fondo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948826" y="1320548"/>
            <a:ext cx="646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1604549" y="1320548"/>
            <a:ext cx="3341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Las cards tienen solo nombre y botón sobre fondo blanco sin imagen.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035868" y="1320548"/>
            <a:ext cx="89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952084" y="1320548"/>
            <a:ext cx="26499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Agregar imagen de fondo del producto a cada card para una presentación más visual y atractiva.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20050" y="1778657"/>
            <a:ext cx="8353800" cy="790500"/>
          </a:xfrm>
          <a:prstGeom prst="rect">
            <a:avLst/>
          </a:prstGeom>
          <a:solidFill>
            <a:srgbClr val="F2F3F4"/>
          </a:solidFill>
          <a:ln cap="flat" cmpd="sng" w="12475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2379" rotWithShape="0" algn="bl" dir="8100000" dist="24951">
              <a:srgbClr val="000000">
                <a:alpha val="10196"/>
              </a:srgbClr>
            </a:outerShdw>
          </a:effectLst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20050" y="1778657"/>
            <a:ext cx="54000" cy="790500"/>
          </a:xfrm>
          <a:prstGeom prst="rect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54788" y="1976272"/>
            <a:ext cx="377400" cy="377400"/>
          </a:xfrm>
          <a:prstGeom prst="ellipse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54788" y="1976272"/>
            <a:ext cx="37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00" lIns="89800" spcFirstLastPara="1" rIns="89800" wrap="square" tIns="4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1"/>
              <a:buFont typeface="Calibri"/>
              <a:buNone/>
            </a:pPr>
            <a:r>
              <a:rPr b="1" i="0" lang="en-US" sz="10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948826" y="1814587"/>
            <a:ext cx="763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31"/>
              <a:buFont typeface="Calibri"/>
              <a:buNone/>
            </a:pPr>
            <a:r>
              <a:rPr b="1" i="0" lang="en-US" sz="1031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Botones 'Ver producto' alineados en todas las cards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48826" y="2075080"/>
            <a:ext cx="646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604549" y="2075080"/>
            <a:ext cx="3341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Los botones de las cards están desalineados cuando los nombres de producto tienen diferente longitud.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035868" y="2075080"/>
            <a:ext cx="89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952084" y="2075080"/>
            <a:ext cx="26499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Fijar los botones al mismo nivel inferior en todas las cards independientemente de la altura del nombre.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20050" y="2533188"/>
            <a:ext cx="8353800" cy="790500"/>
          </a:xfrm>
          <a:prstGeom prst="rect">
            <a:avLst/>
          </a:prstGeom>
          <a:solidFill>
            <a:srgbClr val="F2F3F4"/>
          </a:solidFill>
          <a:ln cap="flat" cmpd="sng" w="12475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2379" rotWithShape="0" algn="bl" dir="8100000" dist="24951">
              <a:srgbClr val="000000">
                <a:alpha val="10196"/>
              </a:srgbClr>
            </a:outerShdw>
          </a:effectLst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20050" y="2533188"/>
            <a:ext cx="54000" cy="790500"/>
          </a:xfrm>
          <a:prstGeom prst="rect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54788" y="2730803"/>
            <a:ext cx="377400" cy="377400"/>
          </a:xfrm>
          <a:prstGeom prst="ellipse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54788" y="2730803"/>
            <a:ext cx="37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00" lIns="89800" spcFirstLastPara="1" rIns="89800" wrap="square" tIns="4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1"/>
              <a:buFont typeface="Calibri"/>
              <a:buNone/>
            </a:pPr>
            <a:r>
              <a:rPr b="1" i="0" lang="en-US" sz="10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948826" y="2569118"/>
            <a:ext cx="763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31"/>
              <a:buFont typeface="Calibri"/>
              <a:buNone/>
            </a:pPr>
            <a:r>
              <a:rPr b="1" i="0" lang="en-US" sz="1031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Menú desplegable con delay de 1 segundo al cerrar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948826" y="2829611"/>
            <a:ext cx="646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604549" y="2829611"/>
            <a:ext cx="3341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menú de 'Productos' se cierra inmediatamente cuando el cursor sale del área, dificultando la navegación.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035868" y="2829611"/>
            <a:ext cx="89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952084" y="2829611"/>
            <a:ext cx="26499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menú permanece visible al menos 1 segundo después de que el cursor lo abandona antes de cerrarse.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320050" y="3287720"/>
            <a:ext cx="8353800" cy="790500"/>
          </a:xfrm>
          <a:prstGeom prst="rect">
            <a:avLst/>
          </a:prstGeom>
          <a:solidFill>
            <a:srgbClr val="F2F3F4"/>
          </a:solidFill>
          <a:ln cap="flat" cmpd="sng" w="12475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2379" rotWithShape="0" algn="bl" dir="8100000" dist="24951">
              <a:srgbClr val="000000">
                <a:alpha val="10196"/>
              </a:srgbClr>
            </a:outerShdw>
          </a:effectLst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320050" y="3287720"/>
            <a:ext cx="54000" cy="790500"/>
          </a:xfrm>
          <a:prstGeom prst="rect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54788" y="3485335"/>
            <a:ext cx="377400" cy="377400"/>
          </a:xfrm>
          <a:prstGeom prst="ellipse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54788" y="3485335"/>
            <a:ext cx="37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00" lIns="89800" spcFirstLastPara="1" rIns="89800" wrap="square" tIns="4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1"/>
              <a:buFont typeface="Calibri"/>
              <a:buNone/>
            </a:pPr>
            <a:r>
              <a:rPr b="1" i="0" lang="en-US" sz="10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948826" y="3323650"/>
            <a:ext cx="763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31"/>
              <a:buFont typeface="Calibri"/>
              <a:buNone/>
            </a:pPr>
            <a:r>
              <a:rPr b="1" i="0" lang="en-US" sz="1031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'Usos recomendados' en fila de ancho completo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948826" y="3584143"/>
            <a:ext cx="646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604549" y="3584143"/>
            <a:ext cx="3341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En Vinilos, algunas Lonas y Placas Rígidas, el campo aparece en formato columna estrecha.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035868" y="3584143"/>
            <a:ext cx="89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952084" y="3584143"/>
            <a:ext cx="26499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campo ocupa el ancho total de la tabla de características, igual que en PVC Espumado y Foamboard.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20050" y="4042251"/>
            <a:ext cx="8353800" cy="790500"/>
          </a:xfrm>
          <a:prstGeom prst="rect">
            <a:avLst/>
          </a:prstGeom>
          <a:solidFill>
            <a:srgbClr val="F2F3F4"/>
          </a:solidFill>
          <a:ln cap="flat" cmpd="sng" w="12475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2379" rotWithShape="0" algn="bl" dir="8100000" dist="24951">
              <a:srgbClr val="000000">
                <a:alpha val="10196"/>
              </a:srgbClr>
            </a:outerShdw>
          </a:effectLst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20050" y="4042251"/>
            <a:ext cx="54000" cy="790500"/>
          </a:xfrm>
          <a:prstGeom prst="rect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54788" y="4239866"/>
            <a:ext cx="377400" cy="377400"/>
          </a:xfrm>
          <a:prstGeom prst="ellipse">
            <a:avLst/>
          </a:prstGeom>
          <a:solidFill>
            <a:srgbClr val="E67E22"/>
          </a:solidFill>
          <a:ln cap="flat" cmpd="sng" w="124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800" lIns="89800" spcFirstLastPara="1" rIns="89800" wrap="square" tIns="89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t/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54788" y="4239866"/>
            <a:ext cx="37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900" lIns="89800" spcFirstLastPara="1" rIns="89800" wrap="square" tIns="4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1"/>
              <a:buFont typeface="Calibri"/>
              <a:buNone/>
            </a:pPr>
            <a:r>
              <a:rPr b="1" i="0" lang="en-US" sz="10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48826" y="4078181"/>
            <a:ext cx="7635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31"/>
              <a:buFont typeface="Calibri"/>
              <a:buNone/>
            </a:pPr>
            <a:r>
              <a:rPr b="1" i="0" lang="en-US" sz="1031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Lightbox para ampliar imágenes de productos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948826" y="4338674"/>
            <a:ext cx="6468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1604549" y="4338674"/>
            <a:ext cx="33414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Las imágenes de productos se muestran en tamaño reducido sin posibilidad de ampliarlas.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035868" y="4338674"/>
            <a:ext cx="898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786"/>
              <a:buFont typeface="Calibri"/>
              <a:buNone/>
            </a:pPr>
            <a:r>
              <a:rPr b="1" i="0" lang="en-US" sz="786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7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952084" y="4338674"/>
            <a:ext cx="26499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35"/>
              <a:buFont typeface="Calibri"/>
              <a:buNone/>
            </a:pPr>
            <a:r>
              <a:rPr b="0" i="0" lang="en-US" sz="835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Al hacer clic en una imagen se abre un lightbox con la imagen en tamaño completo y navegación entre fotos.</a:t>
            </a:r>
            <a:endParaRPr b="0" i="0" sz="8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20100" y="150924"/>
            <a:ext cx="713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PROPUESTAS DE MEJORA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20090" y="635560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Secciones: Productos · Vista Mobile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84048" y="10058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⊞  Productos (cont.)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20040" y="1298448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20040" y="1298448"/>
            <a:ext cx="54864" cy="804672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57200" y="1499616"/>
            <a:ext cx="384048" cy="384048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57200" y="14996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960120" y="133502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Agregar 'Vinilos Graphitac' como categoría visible en el nav-menu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960120" y="160020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627632" y="1600200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producto aparece dentro de Vinilos en el hover-menu pero como categoría separada en /productos/vinilos.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120640" y="16002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053328" y="1600200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Agregar 'Vinilos Graphitac' como columna en el menú desplegable, con nombres en 2 líneas para dar espacio.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20040" y="2212848"/>
            <a:ext cx="850392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84048" y="22128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 Vista Mobile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320040" y="2505456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320040" y="2505456"/>
            <a:ext cx="54864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57200" y="2706624"/>
            <a:ext cx="384048" cy="384048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960120" y="25420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Flechas de navegación de imágenes más grandes y centradas en mobile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960120" y="2807208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1627632" y="2807208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Las flechas izq/der del carrusel de imágenes son pequeñas y están cerca del borde de pantalla.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120640" y="28072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053328" y="280720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Aumentar el tamaño de las flechas y alejarlas de los bordes para facilitar el toque en mobile.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20040" y="3346704"/>
            <a:ext cx="8503920" cy="804672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20040" y="3346704"/>
            <a:ext cx="54864" cy="8046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57200" y="3547872"/>
            <a:ext cx="384048" cy="384048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57200" y="35478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96012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Habilitar zoom en la página desde dispositivos móviles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960120" y="3648456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627632" y="3648456"/>
            <a:ext cx="3401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El atributo user-scalable=no impide que el usuario haga zoom, lo que afecta la accesibilidad.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120640" y="36484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053328" y="364845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Quitar user-scalable=no o setearlo en yes. Opción alternativa: minimum-scale=1 maximum-scale=5.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266175" y="178499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PROPUESTAS DE MEJORA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312741" y="592550"/>
            <a:ext cx="105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Sección: SEO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7543800" y="576072"/>
            <a:ext cx="1371600" cy="274320"/>
          </a:xfrm>
          <a:prstGeom prst="roundRect">
            <a:avLst>
              <a:gd fmla="val 20000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211265" y="1366003"/>
            <a:ext cx="8503800" cy="699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11265" y="1366003"/>
            <a:ext cx="54900" cy="699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348425" y="1496003"/>
            <a:ext cx="384000" cy="3501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48425" y="1496003"/>
            <a:ext cx="384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851345" y="1386003"/>
            <a:ext cx="7772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Títulos de página &lt;title&gt; únicos por endpoint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851345" y="1766003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1518857" y="1766003"/>
            <a:ext cx="340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Todas las páginas tienen el mismo &lt;title&gt; 'Crivo | Insumos gráficos para la comunicación visual', lo que perjudica el SEO.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011865" y="1766003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944553" y="1766003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Cada endpoint debe tener un &lt;title&gt; único con el formato 'Crivo | [Nombre del producto o sección]'.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211265" y="2096003"/>
            <a:ext cx="8503800" cy="699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211265" y="2096003"/>
            <a:ext cx="54900" cy="699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348425" y="2226003"/>
            <a:ext cx="384000" cy="3501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348425" y="2226003"/>
            <a:ext cx="384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851345" y="2116003"/>
            <a:ext cx="7772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Meta descriptions personalizadas por página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51345" y="2496003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1518857" y="2496003"/>
            <a:ext cx="340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Todas las páginas comparten la misma meta description genérica — Google la ignora y usa el texto del producto.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011865" y="2496003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944553" y="2496003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Personalizar el contenido de meta description para cada endpoint con información específica del producto/sección.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211265" y="2826003"/>
            <a:ext cx="8503800" cy="699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211265" y="2826003"/>
            <a:ext cx="54900" cy="699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348425" y="2956003"/>
            <a:ext cx="350100" cy="3501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348425" y="2956003"/>
            <a:ext cx="3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51345" y="2846003"/>
            <a:ext cx="7772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Etiqueta </a:t>
            </a:r>
            <a:r>
              <a:rPr b="1" lang="en-US" sz="1050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&lt;h</a:t>
            </a: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1&gt; con palabras clave por página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51345" y="3226003"/>
            <a:ext cx="658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518857" y="3226003"/>
            <a:ext cx="340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&lt;h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1&gt; no describen el contenido: dicen solo 'Productos', sin mencionar qué tipo.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5011865" y="3226003"/>
            <a:ext cx="914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944553" y="3226003"/>
            <a:ext cx="2697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Cada página debe tener un 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&lt;h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1&gt; con palabras clave específicas del producto o sección.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211265" y="3556003"/>
            <a:ext cx="8503800" cy="699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211265" y="3556003"/>
            <a:ext cx="54900" cy="699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48425" y="3686003"/>
            <a:ext cx="350100" cy="3501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48425" y="3686003"/>
            <a:ext cx="3501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851345" y="3576003"/>
            <a:ext cx="7772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Etiqueta </a:t>
            </a:r>
            <a:r>
              <a:rPr b="1" lang="en-US" sz="1050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canonical</a:t>
            </a:r>
            <a:r>
              <a:rPr b="1" lang="en-US" sz="1050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1" i="0" lang="en-US" sz="105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 apuntando a sí misma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851345" y="3956003"/>
            <a:ext cx="658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ACTUAL: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1518857" y="3956003"/>
            <a:ext cx="3401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Todas las páginas tienen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 la etiqueta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canonical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 apuntando al home: Google las trata como duplicados.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011865" y="3956003"/>
            <a:ext cx="9144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PROPUESTA: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944553" y="3956003"/>
            <a:ext cx="2697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Cada página debe tener su etiqueta 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canonical</a:t>
            </a:r>
            <a:r>
              <a:rPr lang="en-US" sz="850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0" i="0" lang="en-US" sz="8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 apuntando a su propia URL para ser indexada individualmente.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211265" y="1035033"/>
            <a:ext cx="8503800" cy="255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75273" y="1035033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SEO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94145" y="1044177"/>
            <a:ext cx="8229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5 — RESUMEN DE PROPUESTAS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320040" y="594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Vista general de todas las mejoras propuestas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7543800" y="576072"/>
            <a:ext cx="1371600" cy="274320"/>
          </a:xfrm>
          <a:prstGeom prst="roundRect">
            <a:avLst>
              <a:gd fmla="val 20000" name="adj"/>
            </a:avLst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149125" y="1334075"/>
            <a:ext cx="8503800" cy="36750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213133" y="1334075"/>
            <a:ext cx="8229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de las 18 propuestas de mejora por sección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149125" y="1738363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149125" y="1738363"/>
            <a:ext cx="54900" cy="3429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149125" y="1738363"/>
            <a:ext cx="1188600" cy="3429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149125" y="1738363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401853" y="1738363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01 WhatsApp automático  ·  02 'Tipo de producto' obligatorio  ·  03 Autocompletar producto  ·  04 Link WhatsApp visible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8150125" y="1738363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149125" y="2118150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49125" y="2118150"/>
            <a:ext cx="54900" cy="3429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149125" y="2118150"/>
            <a:ext cx="1188600" cy="3429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49125" y="2118150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Newsletter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1401853" y="2118150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05 Pop-up de confirmación de suscripción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8150125" y="2118150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149125" y="2497936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149125" y="2497936"/>
            <a:ext cx="54900" cy="342900"/>
          </a:xfrm>
          <a:prstGeom prst="rect">
            <a:avLst/>
          </a:prstGeom>
          <a:solidFill>
            <a:srgbClr val="148F77"/>
          </a:solidFill>
          <a:ln cap="flat" cmpd="sng" w="12700">
            <a:solidFill>
              <a:srgbClr val="148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149125" y="2497936"/>
            <a:ext cx="1188600" cy="342900"/>
          </a:xfrm>
          <a:prstGeom prst="rect">
            <a:avLst/>
          </a:prstGeom>
          <a:solidFill>
            <a:srgbClr val="148F77"/>
          </a:solidFill>
          <a:ln cap="flat" cmpd="sng" w="12700">
            <a:solidFill>
              <a:srgbClr val="148F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149125" y="2497936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1401853" y="2497936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06 Alineación de imágenes y botones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8150125" y="2497936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F7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48F7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149125" y="2877722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49125" y="2877722"/>
            <a:ext cx="54900" cy="3429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149125" y="2877722"/>
            <a:ext cx="1188600" cy="3429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149125" y="2877722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401853" y="2877722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07 Cards con imagen  ·  08 Botones alineados  ·  09 Delay menú  ·  10 'Usos recomendados' en fila  ·  11 Lightbox  ·  12 Graphitac en nav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8150125" y="2877722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149125" y="3257508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149125" y="3257508"/>
            <a:ext cx="54900" cy="342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49125" y="3257508"/>
            <a:ext cx="1188600" cy="342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49125" y="3257508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Mobile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1401853" y="3257508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13 Flechas carrusel más grandes  ·  14 Habilitar zoom en mobile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8150125" y="3257508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49125" y="3637294"/>
            <a:ext cx="8503800" cy="342900"/>
          </a:xfrm>
          <a:prstGeom prst="rect">
            <a:avLst/>
          </a:prstGeom>
          <a:solidFill>
            <a:srgbClr val="F2F3F4"/>
          </a:solidFill>
          <a:ln cap="flat" cmpd="sng" w="12700">
            <a:solidFill>
              <a:srgbClr val="F2F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149125" y="3637294"/>
            <a:ext cx="54900" cy="342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149125" y="3637294"/>
            <a:ext cx="1188600" cy="3429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49125" y="3637294"/>
            <a:ext cx="118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401853" y="3637294"/>
            <a:ext cx="658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15 Titles únicos por página  ·  16 Meta descriptions  ·  17 H1 con palabras clave  ·  18 Canonical por página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150125" y="3637294"/>
            <a:ext cx="43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B4E"/>
          </a:solidFill>
          <a:ln cap="flat" cmpd="sng" w="12700">
            <a:solidFill>
              <a:srgbClr val="0F2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6 — EL VALOR DEL ENTREGABLE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320040" y="59436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D6F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6F1"/>
                </a:solidFill>
                <a:latin typeface="Calibri"/>
                <a:ea typeface="Calibri"/>
                <a:cs typeface="Calibri"/>
                <a:sym typeface="Calibri"/>
              </a:rPr>
              <a:t>Por qué el Test Plan es la herramienta clave para el equipo de 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365760" y="1005840"/>
            <a:ext cx="4160520" cy="15727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365760" y="1005840"/>
            <a:ext cx="64008" cy="157276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30352" y="1536192"/>
            <a:ext cx="512064" cy="512064"/>
          </a:xfrm>
          <a:prstGeom prst="ellipse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7" name="Google Shape;5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6184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3"/>
          <p:cNvSpPr/>
          <p:nvPr/>
        </p:nvSpPr>
        <p:spPr>
          <a:xfrm>
            <a:off x="1170432" y="109728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PDF de Relevamiento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1170432" y="1499616"/>
            <a:ext cx="32461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Análisis completo con propuestas visuales (antes/después). Ideal para compartir con quienes toman decisiones.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4709160" y="1005840"/>
            <a:ext cx="4160520" cy="15727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709160" y="1005840"/>
            <a:ext cx="64008" cy="1572768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4873752" y="1536192"/>
            <a:ext cx="512064" cy="512064"/>
          </a:xfrm>
          <a:prstGeom prst="ellipse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3" name="Google Shape;5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16184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3"/>
          <p:cNvSpPr/>
          <p:nvPr/>
        </p:nvSpPr>
        <p:spPr>
          <a:xfrm>
            <a:off x="5513832" y="109728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Test Plan (Excel)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5513832" y="1499616"/>
            <a:ext cx="32461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46 casos de prueba + 14 bug reports detallados. Pasos exactos, resultado esperado vs. obtenido y evidencia visual.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365760" y="2743200"/>
            <a:ext cx="4160520" cy="15727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365760" y="2743200"/>
            <a:ext cx="64008" cy="157276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530352" y="3273552"/>
            <a:ext cx="512064" cy="512064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9" name="Google Shape;51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33558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3"/>
          <p:cNvSpPr/>
          <p:nvPr/>
        </p:nvSpPr>
        <p:spPr>
          <a:xfrm>
            <a:off x="1170432" y="28346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Carpeta de Evidencias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1170432" y="3236976"/>
            <a:ext cx="32461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Capturas y videos organizados por bug, referenciados desde el Test Plan para verificación del equipo de desarrollo.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4709160" y="2743200"/>
            <a:ext cx="4160520" cy="157276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4709160" y="2743200"/>
            <a:ext cx="64008" cy="157276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4873752" y="3273552"/>
            <a:ext cx="512064" cy="512064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5" name="Google Shape;52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6048" y="33558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3"/>
          <p:cNvSpPr/>
          <p:nvPr/>
        </p:nvSpPr>
        <p:spPr>
          <a:xfrm>
            <a:off x="5513832" y="28346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Figma con propuestas UX/UI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5513832" y="3236976"/>
            <a:ext cx="32461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Mockups visuales de las mejoras propuestas para que el equipo de desarrollo tenga una referencia clara del resultado.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365760" y="4498848"/>
            <a:ext cx="8412480" cy="52120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EBF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365760" y="4498848"/>
            <a:ext cx="64008" cy="5212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548640" y="4498848"/>
            <a:ext cx="81381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"Con este Test Plan, el equipo de desarrollo puede ir directamente al bug, reproducirlo paso a paso y validar que quedó solucionado — sin que nadie tenga que explicar nada."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320040" y="18288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BLOQUE 7 — CIERRE Y PRÓXIMOS PASOS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3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566573"/>
                </a:solidFill>
                <a:latin typeface="Calibri"/>
                <a:ea typeface="Calibri"/>
                <a:cs typeface="Calibri"/>
                <a:sym typeface="Calibri"/>
              </a:rPr>
              <a:t>RELEVAMIENTO QA — CRIVO S.R.L.  |  Elaborado por Damián Palla  ·  Abril 2026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1941375" y="1245940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B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B4E"/>
                </a:solidFill>
                <a:latin typeface="Calibri"/>
                <a:ea typeface="Calibri"/>
                <a:cs typeface="Calibri"/>
                <a:sym typeface="Calibri"/>
              </a:rPr>
              <a:t>Posibles próximos pasos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1941375" y="1556836"/>
            <a:ext cx="3977700" cy="6948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1941375" y="1556836"/>
            <a:ext cx="54900" cy="6948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1987095" y="1556836"/>
            <a:ext cx="4572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2490015" y="1556836"/>
            <a:ext cx="3337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Enviarle el Test Plan y carpeta de evidencias al equipo de desarrollo.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1941375" y="2379796"/>
            <a:ext cx="3977700" cy="6948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1941375" y="2379796"/>
            <a:ext cx="54900" cy="6948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1987095" y="2379796"/>
            <a:ext cx="4572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2490015" y="2379796"/>
            <a:ext cx="3337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Definir un orden de prioridad para la corrección de bugs (empezar por los de Alta).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1941375" y="3202756"/>
            <a:ext cx="3977700" cy="694800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1941375" y="3202756"/>
            <a:ext cx="54900" cy="6948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1987095" y="3202756"/>
            <a:ext cx="4572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2490015" y="3202756"/>
            <a:ext cx="3337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Agendar una revisión de validación una vez que los bugs sean corregidos.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365760" y="4480560"/>
            <a:ext cx="8412480" cy="521208"/>
          </a:xfrm>
          <a:prstGeom prst="rect">
            <a:avLst/>
          </a:prstGeom>
          <a:solidFill>
            <a:srgbClr val="D5F5E3"/>
          </a:solidFill>
          <a:ln cap="flat" cmpd="sng" w="12700">
            <a:solidFill>
              <a:srgbClr val="D5F5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365760" y="4480560"/>
            <a:ext cx="64008" cy="52120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548640" y="4480560"/>
            <a:ext cx="813816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52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276"/>
                </a:solidFill>
                <a:latin typeface="Calibri"/>
                <a:ea typeface="Calibri"/>
                <a:cs typeface="Calibri"/>
                <a:sym typeface="Calibri"/>
              </a:rPr>
              <a:t>"El trabajo está documentado y listo para pasarle al equipo de desarrollo. 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2026-05-11T13:26:03Z</dcterms:created>
  <dc:creator>Damián Palla</dc:creator>
</cp:coreProperties>
</file>